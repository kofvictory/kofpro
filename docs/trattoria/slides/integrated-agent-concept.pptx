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310896" cy="310896"/>
          </a:xfrm>
          <a:prstGeom prst="ellipse">
            <a:avLst/>
          </a:prstGeom>
          <a:solidFill>
            <a:srgbClr val="BC5A3C"/>
          </a:solidFill>
          <a:ln/>
        </p:spPr>
      </p:sp>
      <p:sp>
        <p:nvSpPr>
          <p:cNvPr id="3" name="Shape 1"/>
          <p:cNvSpPr/>
          <p:nvPr/>
        </p:nvSpPr>
        <p:spPr>
          <a:xfrm>
            <a:off x="1289304" y="1371600"/>
            <a:ext cx="310896" cy="310896"/>
          </a:xfrm>
          <a:prstGeom prst="ellipse">
            <a:avLst/>
          </a:prstGeom>
          <a:solidFill>
            <a:srgbClr val="B76E85"/>
          </a:solidFill>
          <a:ln/>
        </p:spPr>
      </p:sp>
      <p:sp>
        <p:nvSpPr>
          <p:cNvPr id="4" name="Shape 2"/>
          <p:cNvSpPr/>
          <p:nvPr/>
        </p:nvSpPr>
        <p:spPr>
          <a:xfrm>
            <a:off x="1755648" y="1371600"/>
            <a:ext cx="310896" cy="310896"/>
          </a:xfrm>
          <a:prstGeom prst="ellipse">
            <a:avLst/>
          </a:prstGeom>
          <a:solidFill>
            <a:srgbClr val="7C9A5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E0A7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OWNER MEETING ／ 2026.09.14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EFE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3業態を、ひとつの頭脳で。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トラットリア・ケーキ屋・新店舗を統合管理する経営AIエージェント構想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35302A"/>
          </a:solidFill>
          <a:ln w="19050">
            <a:solidFill>
              <a:srgbClr val="BC5A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5029200"/>
            <a:ext cx="274320" cy="274320"/>
          </a:xfrm>
          <a:prstGeom prst="ellipse">
            <a:avLst/>
          </a:prstGeom>
          <a:solidFill>
            <a:srgbClr val="BC5A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89888" y="482803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Baker's Dozen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トラットリア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11880" y="470916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35302A"/>
          </a:solidFill>
          <a:ln w="19050">
            <a:solidFill>
              <a:srgbClr val="B76E8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5029200"/>
            <a:ext cx="274320" cy="274320"/>
          </a:xfrm>
          <a:prstGeom prst="ellipse">
            <a:avLst/>
          </a:prstGeom>
          <a:solidFill>
            <a:srgbClr val="B76E8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178808" y="482803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Baton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ケーキ屋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0" y="470916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35302A"/>
          </a:solidFill>
          <a:ln w="19050">
            <a:solidFill>
              <a:srgbClr val="7C9A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5029200"/>
            <a:ext cx="274320" cy="274320"/>
          </a:xfrm>
          <a:prstGeom prst="ellipse">
            <a:avLst/>
          </a:prstGeom>
          <a:solidFill>
            <a:srgbClr val="7C9A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67728" y="482803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新店舗
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ベーカリー&amp;デリ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897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KofPro 基盤の拡張構想 ／ オーナー会議用ドラフト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いま、3つの店が「別々に」回っている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それぞれ独立して管理され、データも人も在庫もつながっていない。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5DFD5"/>
            </a:solidFill>
            <a:prstDash val="solid"/>
          </a:ln>
          <a:effectLst>
            <a:outerShdw sx="100000" sy="100000" kx="0" ky="0" algn="bl" rotWithShape="0" blurRad="76200" dist="25400" dir="5400000">
              <a:srgbClr val="C9C0B2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502920" cy="502920"/>
          </a:xfrm>
          <a:prstGeom prst="ellipse">
            <a:avLst/>
          </a:prstGeom>
          <a:solidFill>
            <a:srgbClr val="BC5A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C5A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トラットリア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Baker's Dozen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375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売上・数字は店ごとにレジ締め
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手作業の転記。全体像が月末まで見えない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33672" y="169164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5DFD5"/>
            </a:solidFill>
            <a:prstDash val="solid"/>
          </a:ln>
          <a:effectLst>
            <a:outerShdw sx="100000" sy="100000" kx="0" ky="0" algn="bl" rotWithShape="0" blurRad="76200" dist="25400" dir="5400000">
              <a:srgbClr val="C9C0B2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965960"/>
            <a:ext cx="502920" cy="502920"/>
          </a:xfrm>
          <a:prstGeom prst="ellipse">
            <a:avLst/>
          </a:prstGeom>
          <a:solidFill>
            <a:srgbClr val="B76E8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07992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6E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ケーキ屋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Baton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33375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在庫・仕入れは店ごとに発注
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食材やパンの融通が効かず、廃棄も各店で発生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0144" y="169164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5DFD5"/>
            </a:solidFill>
            <a:prstDash val="solid"/>
          </a:ln>
          <a:effectLst>
            <a:outerShdw sx="100000" sy="100000" kx="0" ky="0" algn="bl" rotWithShape="0" blurRad="76200" dist="25400" dir="5400000">
              <a:srgbClr val="C9C0B2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84464" y="1965960"/>
            <a:ext cx="502920" cy="502920"/>
          </a:xfrm>
          <a:prstGeom prst="ellipse">
            <a:avLst/>
          </a:prstGeom>
          <a:solidFill>
            <a:srgbClr val="7C9A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84464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9A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ベーカリー&amp;デリ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新店舗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33375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シフトも店ごとに勘で作成
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人手の余剰・不足が店をまたいで調整できない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16636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3E7D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1663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8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共通する根っこの課題　</a:t>
            </a:r>
            <a:pPr indent="0" marL="0">
              <a:buNone/>
            </a:pPr>
            <a:r>
              <a:rPr lang="en-US" sz="1400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データの分断 ／ 属人化 ／ 手作業の多さ ／ 店をまたいだシナジーが未活用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3業態統合 経営AIエージェント構想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構想の全体像 ── ひとつの頭脳が、3店を束ねる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80760" y="3429000"/>
            <a:ext cx="-4251960" cy="-1828800"/>
          </a:xfrm>
          <a:prstGeom prst="line">
            <a:avLst/>
          </a:prstGeom>
          <a:noFill/>
          <a:ln w="19050">
            <a:solidFill>
              <a:srgbClr val="5A5148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6080760" y="3429000"/>
            <a:ext cx="3977640" cy="-1828800"/>
          </a:xfrm>
          <a:prstGeom prst="line">
            <a:avLst/>
          </a:prstGeom>
          <a:noFill/>
          <a:ln w="19050">
            <a:solidFill>
              <a:srgbClr val="5A514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080760" y="3429000"/>
            <a:ext cx="0" cy="2194560"/>
          </a:xfrm>
          <a:prstGeom prst="line">
            <a:avLst/>
          </a:prstGeom>
          <a:noFill/>
          <a:ln w="19050">
            <a:solidFill>
              <a:srgbClr val="5A514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709160" y="265176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C1841C"/>
          </a:solidFill>
          <a:ln w="12700">
            <a:solidFill>
              <a:srgbClr val="E0A73E"/>
            </a:solidFill>
            <a:prstDash val="solid"/>
          </a:ln>
          <a:effectLst>
            <a:outerShdw sx="100000" sy="100000" kx="0" ky="0" algn="bl" rotWithShape="0" blurRad="127000" dist="38100" dir="5400000">
              <a:srgbClr val="140F0B">
                <a:alpha val="5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709160" y="265176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41A0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統合AIエージェント
</a:t>
            </a:r>
            <a:endParaRPr lang="en-US" sz="1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43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KofPro 基盤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10058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35302A"/>
          </a:solidFill>
          <a:ln w="25400">
            <a:solidFill>
              <a:srgbClr val="BC5A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1261872"/>
            <a:ext cx="292608" cy="292608"/>
          </a:xfrm>
          <a:prstGeom prst="ellipse">
            <a:avLst/>
          </a:prstGeom>
          <a:solidFill>
            <a:srgbClr val="BC5A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52728" y="11887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Baker's Dozen
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トラットリア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915400" y="100584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35302A"/>
          </a:solidFill>
          <a:ln w="25400">
            <a:solidFill>
              <a:srgbClr val="B76E8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16568" y="1261872"/>
            <a:ext cx="292608" cy="292608"/>
          </a:xfrm>
          <a:prstGeom prst="ellipse">
            <a:avLst/>
          </a:prstGeom>
          <a:solidFill>
            <a:srgbClr val="B76E8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482328" y="11887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Baton
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ケーキ屋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37760" y="50292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35302A"/>
          </a:solidFill>
          <a:ln w="25400">
            <a:solidFill>
              <a:srgbClr val="7C9A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38928" y="5285232"/>
            <a:ext cx="292608" cy="292608"/>
          </a:xfrm>
          <a:prstGeom prst="ellipse">
            <a:avLst/>
          </a:prstGeom>
          <a:solidFill>
            <a:srgbClr val="7C9A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504688" y="52120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新店舗
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ベーカリー&amp;デリ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A7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売上・在庫・人・顧客の4データを1か所に集約し、店をまたいで最適化する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3業態統合 経営AIエージェント構想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統合して初めて生まれる価値 ── シナジー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3店を1つの頭脳でつなぐと、単体では出せない循環が回り始める。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DFD5"/>
            </a:solidFill>
            <a:prstDash val="solid"/>
          </a:ln>
          <a:effectLst>
            <a:outerShdw sx="100000" sy="100000" kx="0" ky="0" algn="bl" rotWithShape="0" blurRad="76200" dist="25400" dir="5400000">
              <a:srgbClr val="C9C0B2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rgbClr val="C184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029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食材・在庫の融通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51460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余ったパンは総菜やトラットリアへ、生地や焼き菓子は店をまたいで活用。廃棄(食材ロス)を全体で最小化。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DFD5"/>
            </a:solidFill>
            <a:prstDash val="solid"/>
          </a:ln>
          <a:effectLst>
            <a:outerShdw sx="100000" sy="100000" kx="0" ky="0" algn="bl" rotWithShape="0" blurRad="76200" dist="25400" dir="5400000">
              <a:srgbClr val="C9C0B2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640080" cy="640080"/>
          </a:xfrm>
          <a:prstGeom prst="ellipse">
            <a:avLst/>
          </a:prstGeom>
          <a:solidFill>
            <a:srgbClr val="C184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029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クロスセル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51460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ケーキ×ディナー、パン×総菜のセット販売。1人のお客様の来店単価と回数を、店をまたいで引き上げる。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DFD5"/>
            </a:solidFill>
            <a:prstDash val="solid"/>
          </a:ln>
          <a:effectLst>
            <a:outerShdw sx="100000" sy="100000" kx="0" ky="0" algn="bl" rotWithShape="0" blurRad="76200" dist="25400" dir="5400000">
              <a:srgbClr val="C9C0B2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206240"/>
            <a:ext cx="640080" cy="640080"/>
          </a:xfrm>
          <a:prstGeom prst="ellipse">
            <a:avLst/>
          </a:prstGeom>
          <a:solidFill>
            <a:srgbClr val="C184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需要の相互補完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66344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雨で弱い店を、天候に強い店(焼き菓子・総菜・デリバリー)が支える。売上の谷を全体でならす。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DFD5"/>
            </a:solidFill>
            <a:prstDash val="solid"/>
          </a:ln>
          <a:effectLst>
            <a:outerShdw sx="100000" sy="100000" kx="0" ky="0" algn="bl" rotWithShape="0" blurRad="76200" dist="25400" dir="5400000">
              <a:srgbClr val="C9C0B2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206240"/>
            <a:ext cx="640080" cy="640080"/>
          </a:xfrm>
          <a:prstGeom prst="ellipse">
            <a:avLst/>
          </a:prstGeom>
          <a:solidFill>
            <a:srgbClr val="C1841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4178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共通の顧客基盤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466344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3店共通の会員(ダズンクラブ)。どの店に来ても記録が貯まり、次の一手を打てる。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3業態統合 経営AIエージェント構想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基本機能 </a:t>
            </a:r>
            <a:pPr indent="0" marL="0">
              <a:buNone/>
            </a:pPr>
            <a:r>
              <a:rPr lang="en-US" sz="1400" b="1" dirty="0">
                <a:solidFill>
                  <a:srgbClr val="C18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数値の統合ダッシュボード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18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3店の売上・客数・原価を自動で集約し、毎日ひとつの画面で見る。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7040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DF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59152"/>
            <a:ext cx="457200" cy="457200"/>
          </a:xfrm>
          <a:prstGeom prst="ellipse">
            <a:avLst/>
          </a:prstGeom>
          <a:solidFill>
            <a:srgbClr val="C184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945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レジ締めの自動化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会計と同時に集計。手作業の転記をなくす(既製ツールが土台)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7040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DF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593592"/>
            <a:ext cx="457200" cy="457200"/>
          </a:xfrm>
          <a:prstGeom prst="ellipse">
            <a:avLst/>
          </a:prstGeom>
          <a:solidFill>
            <a:srgbClr val="C184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4290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店横断の売上比較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時間帯・曜日・天候別に3店を並べて把握。強弱がすぐ分かる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7040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DF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828032"/>
            <a:ext cx="457200" cy="457200"/>
          </a:xfrm>
          <a:prstGeom prst="ellipse">
            <a:avLst/>
          </a:prstGeom>
          <a:solidFill>
            <a:srgbClr val="C1841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6634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原価率・粗利の可視化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つけ払い・関係者売掛・後日訂正も台帳で管理し「本当の利益」を掴む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26680" y="2057400"/>
            <a:ext cx="3977640" cy="3749040"/>
          </a:xfrm>
          <a:prstGeom prst="roundRect">
            <a:avLst>
              <a:gd name="adj" fmla="val 1951"/>
            </a:avLst>
          </a:prstGeom>
          <a:solidFill>
            <a:srgbClr val="26211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0100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7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対象の3業態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2834640"/>
            <a:ext cx="384048" cy="384048"/>
          </a:xfrm>
          <a:prstGeom prst="ellipse">
            <a:avLst/>
          </a:prstGeom>
          <a:solidFill>
            <a:srgbClr val="BC5A3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9536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Baker's Dozen  </a:t>
            </a:r>
            <a:pPr indent="0" marL="0">
              <a:buNone/>
            </a:pPr>
            <a:r>
              <a:rPr lang="en-US" sz="11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トラットリア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3749040"/>
            <a:ext cx="384048" cy="384048"/>
          </a:xfrm>
          <a:prstGeom prst="ellipse">
            <a:avLst/>
          </a:prstGeom>
          <a:solidFill>
            <a:srgbClr val="B76E8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9536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Baton  </a:t>
            </a:r>
            <a:pPr indent="0" marL="0">
              <a:buNone/>
            </a:pPr>
            <a:r>
              <a:rPr lang="en-US" sz="11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ケーキ屋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46720" y="4663440"/>
            <a:ext cx="384048" cy="384048"/>
          </a:xfrm>
          <a:prstGeom prst="ellipse">
            <a:avLst/>
          </a:prstGeom>
          <a:solidFill>
            <a:srgbClr val="7C9A5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95360" y="4617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新店舗  </a:t>
            </a:r>
            <a:pPr indent="0" marL="0">
              <a:buNone/>
            </a:pPr>
            <a:r>
              <a:rPr lang="en-US" sz="11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ベーカリー&amp;デリ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5440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すべての店で同じ仕組みが働く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3業態統合 経営AIエージェント構想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基本機能 </a:t>
            </a:r>
            <a:pPr indent="0" marL="0">
              <a:buNone/>
            </a:pPr>
            <a:r>
              <a:rPr lang="en-US" sz="1400" b="1" dirty="0">
                <a:solidFill>
                  <a:srgbClr val="7C9A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在庫・仕入れ・食材の一元管理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18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3店の在庫を1つの台帳に。発注を最適化し、廃棄を全体で減らす。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7040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DF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59152"/>
            <a:ext cx="457200" cy="457200"/>
          </a:xfrm>
          <a:prstGeom prst="ellipse">
            <a:avLst/>
          </a:prstGeom>
          <a:solidFill>
            <a:srgbClr val="7C9A5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945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共通在庫の見える化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冷蔵・冷凍を含む在庫を店横断で把握。二重発注・欠品を防ぐ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7040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DF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593592"/>
            <a:ext cx="457200" cy="457200"/>
          </a:xfrm>
          <a:prstGeom prst="ellipse">
            <a:avLst/>
          </a:prstGeom>
          <a:solidFill>
            <a:srgbClr val="7C9A5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4290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店間の食材融通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余剰を別の店へ回す提案。パン→総菜→トラットリアの循環を回す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7040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DF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828032"/>
            <a:ext cx="457200" cy="457200"/>
          </a:xfrm>
          <a:prstGeom prst="ellipse">
            <a:avLst/>
          </a:prstGeom>
          <a:solidFill>
            <a:srgbClr val="7C9A5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6634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発注点アラート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売上実績から必要量を予測し、発注のタイミングを自動で通知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26680" y="2057400"/>
            <a:ext cx="3977640" cy="3749040"/>
          </a:xfrm>
          <a:prstGeom prst="roundRect">
            <a:avLst>
              <a:gd name="adj" fmla="val 1951"/>
            </a:avLst>
          </a:prstGeom>
          <a:solidFill>
            <a:srgbClr val="26211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0100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7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対象の3業態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2834640"/>
            <a:ext cx="384048" cy="384048"/>
          </a:xfrm>
          <a:prstGeom prst="ellipse">
            <a:avLst/>
          </a:prstGeom>
          <a:solidFill>
            <a:srgbClr val="BC5A3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9536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Baker's Dozen  </a:t>
            </a:r>
            <a:pPr indent="0" marL="0">
              <a:buNone/>
            </a:pPr>
            <a:r>
              <a:rPr lang="en-US" sz="11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トラットリア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3749040"/>
            <a:ext cx="384048" cy="384048"/>
          </a:xfrm>
          <a:prstGeom prst="ellipse">
            <a:avLst/>
          </a:prstGeom>
          <a:solidFill>
            <a:srgbClr val="B76E8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9536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Baton  </a:t>
            </a:r>
            <a:pPr indent="0" marL="0">
              <a:buNone/>
            </a:pPr>
            <a:r>
              <a:rPr lang="en-US" sz="11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ケーキ屋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46720" y="4663440"/>
            <a:ext cx="384048" cy="384048"/>
          </a:xfrm>
          <a:prstGeom prst="ellipse">
            <a:avLst/>
          </a:prstGeom>
          <a:solidFill>
            <a:srgbClr val="7C9A5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95360" y="4617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新店舗  </a:t>
            </a:r>
            <a:pPr indent="0" marL="0">
              <a:buNone/>
            </a:pPr>
            <a:r>
              <a:rPr lang="en-US" sz="11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ベーカリー&amp;デリ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5440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すべての店で同じ仕組みが働く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3業態統合 経営AIエージェント構想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基本機能 </a:t>
            </a:r>
            <a:pPr indent="0" marL="0">
              <a:buNone/>
            </a:pPr>
            <a:r>
              <a:rPr lang="en-US" sz="1400" b="1" dirty="0">
                <a:solidFill>
                  <a:srgbClr val="BC5A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人・シフトの最適化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18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売上に見合った人員を、店をまたいで配置する。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7040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DF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59152"/>
            <a:ext cx="457200" cy="457200"/>
          </a:xfrm>
          <a:prstGeom prst="ellipse">
            <a:avLst/>
          </a:prstGeom>
          <a:solidFill>
            <a:srgbClr val="BC5A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945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売上連動のシフト提案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実績から「その日・その店に何人要るか」を提案(既製シフトと連携)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7040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DF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593592"/>
            <a:ext cx="457200" cy="457200"/>
          </a:xfrm>
          <a:prstGeom prst="ellipse">
            <a:avLst/>
          </a:prstGeom>
          <a:solidFill>
            <a:srgbClr val="BC5A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4290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店間の人員融通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暇な店から忙しい店へ。3店合算で人件費のムダを抑える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7040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DF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828032"/>
            <a:ext cx="457200" cy="457200"/>
          </a:xfrm>
          <a:prstGeom prst="ellipse">
            <a:avLst/>
          </a:prstGeom>
          <a:solidFill>
            <a:srgbClr val="BC5A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6634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法令・社保の自動チェック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休憩・連続勤務・扶養の壁を提案時に確認(最終判断は人)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26680" y="2057400"/>
            <a:ext cx="3977640" cy="3749040"/>
          </a:xfrm>
          <a:prstGeom prst="roundRect">
            <a:avLst>
              <a:gd name="adj" fmla="val 1951"/>
            </a:avLst>
          </a:prstGeom>
          <a:solidFill>
            <a:srgbClr val="26211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0100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7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対象の3業態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2834640"/>
            <a:ext cx="384048" cy="384048"/>
          </a:xfrm>
          <a:prstGeom prst="ellipse">
            <a:avLst/>
          </a:prstGeom>
          <a:solidFill>
            <a:srgbClr val="BC5A3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9536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Baker's Dozen  </a:t>
            </a:r>
            <a:pPr indent="0" marL="0">
              <a:buNone/>
            </a:pPr>
            <a:r>
              <a:rPr lang="en-US" sz="11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トラットリア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3749040"/>
            <a:ext cx="384048" cy="384048"/>
          </a:xfrm>
          <a:prstGeom prst="ellipse">
            <a:avLst/>
          </a:prstGeom>
          <a:solidFill>
            <a:srgbClr val="B76E8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9536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Baton  </a:t>
            </a:r>
            <a:pPr indent="0" marL="0">
              <a:buNone/>
            </a:pPr>
            <a:r>
              <a:rPr lang="en-US" sz="11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ケーキ屋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46720" y="4663440"/>
            <a:ext cx="384048" cy="384048"/>
          </a:xfrm>
          <a:prstGeom prst="ellipse">
            <a:avLst/>
          </a:prstGeom>
          <a:solidFill>
            <a:srgbClr val="7C9A5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95360" y="4617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新店舗  </a:t>
            </a:r>
            <a:pPr indent="0" marL="0">
              <a:buNone/>
            </a:pPr>
            <a:r>
              <a:rPr lang="en-US" sz="11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ベーカリー&amp;デリ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5440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すべての店で同じ仕組みが働く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3業態統合 経営AIエージェント構想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基本機能 </a:t>
            </a:r>
            <a:pPr indent="0" marL="0">
              <a:buNone/>
            </a:pPr>
            <a:r>
              <a:rPr lang="en-US" sz="1400" b="1" dirty="0">
                <a:solidFill>
                  <a:srgbClr val="B76E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顧客・販促の統合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18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3店共通の顧客基盤で、来店単価と再来店を引き上げる。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7040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DF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59152"/>
            <a:ext cx="457200" cy="457200"/>
          </a:xfrm>
          <a:prstGeom prst="ellipse">
            <a:avLst/>
          </a:prstGeom>
          <a:solidFill>
            <a:srgbClr val="B76E8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945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共通会員(ダズンクラブ)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どの店の利用も1つの記録に。回数券・月額会員でリピートを固定化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7040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DF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593592"/>
            <a:ext cx="457200" cy="457200"/>
          </a:xfrm>
          <a:prstGeom prst="ellipse">
            <a:avLst/>
          </a:prstGeom>
          <a:solidFill>
            <a:srgbClr val="B76E8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4290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販促チャネルの一元管理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LINE・Instagram・デリバリーを横断。天候連動の配信も自動化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7040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DF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828032"/>
            <a:ext cx="457200" cy="457200"/>
          </a:xfrm>
          <a:prstGeom prst="ellipse">
            <a:avLst/>
          </a:prstGeom>
          <a:solidFill>
            <a:srgbClr val="B76E8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6634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クロスセルの提案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ケーキ×ディナー、パン×総菜など、店をまたぐおすすめを自動生成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26680" y="2057400"/>
            <a:ext cx="3977640" cy="3749040"/>
          </a:xfrm>
          <a:prstGeom prst="roundRect">
            <a:avLst>
              <a:gd name="adj" fmla="val 1951"/>
            </a:avLst>
          </a:prstGeom>
          <a:solidFill>
            <a:srgbClr val="26211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0100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7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対象の3業態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2834640"/>
            <a:ext cx="384048" cy="384048"/>
          </a:xfrm>
          <a:prstGeom prst="ellipse">
            <a:avLst/>
          </a:prstGeom>
          <a:solidFill>
            <a:srgbClr val="BC5A3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9536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Baker's Dozen  </a:t>
            </a:r>
            <a:pPr indent="0" marL="0">
              <a:buNone/>
            </a:pPr>
            <a:r>
              <a:rPr lang="en-US" sz="11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トラットリア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3749040"/>
            <a:ext cx="384048" cy="384048"/>
          </a:xfrm>
          <a:prstGeom prst="ellipse">
            <a:avLst/>
          </a:prstGeom>
          <a:solidFill>
            <a:srgbClr val="B76E8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9536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Baton  </a:t>
            </a:r>
            <a:pPr indent="0" marL="0">
              <a:buNone/>
            </a:pPr>
            <a:r>
              <a:rPr lang="en-US" sz="11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ケーキ屋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46720" y="4663440"/>
            <a:ext cx="384048" cy="384048"/>
          </a:xfrm>
          <a:prstGeom prst="ellipse">
            <a:avLst/>
          </a:prstGeom>
          <a:solidFill>
            <a:srgbClr val="7C9A5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95360" y="4617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新店舗  </a:t>
            </a:r>
            <a:pPr indent="0" marL="0">
              <a:buNone/>
            </a:pPr>
            <a:r>
              <a:rPr lang="en-US" sz="11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ベーカリー&amp;デリ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5440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すべての店で同じ仕組みが働く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3業態統合 経営AIエージェント構想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将来的な拡張性 ── 小さく始め、賢くしていく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いきなり全部作らない。効果を確かめながら段階的に育てる。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10515600" cy="0"/>
          </a:xfrm>
          <a:prstGeom prst="line">
            <a:avLst/>
          </a:prstGeom>
          <a:noFill/>
          <a:ln w="25400">
            <a:solidFill>
              <a:srgbClr val="5A51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2322576"/>
            <a:ext cx="292608" cy="292608"/>
          </a:xfrm>
          <a:prstGeom prst="ellipse">
            <a:avLst/>
          </a:prstGeom>
          <a:solidFill>
            <a:srgbClr val="5E8C5A"/>
          </a:solidFill>
          <a:ln w="25400">
            <a:solidFill>
              <a:srgbClr val="2621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88036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35302A"/>
          </a:solidFill>
          <a:ln w="19050">
            <a:solidFill>
              <a:srgbClr val="5E8C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8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429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数値の見える化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42519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3店の売上・原価を集約。まず「今どうなっているか」を1画面に。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39896" y="2322576"/>
            <a:ext cx="292608" cy="292608"/>
          </a:xfrm>
          <a:prstGeom prst="ellipse">
            <a:avLst/>
          </a:prstGeom>
          <a:solidFill>
            <a:srgbClr val="E0A73E"/>
          </a:solidFill>
          <a:ln w="25400">
            <a:solidFill>
              <a:srgbClr val="26211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288036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35302A"/>
          </a:solidFill>
          <a:ln w="19050">
            <a:solidFill>
              <a:srgbClr val="E0A7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7764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7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3429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在庫・シフトの最適化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42519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食材の融通・発注最適化・売上連動シフトで、日々のムダを削る。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28816" y="2322576"/>
            <a:ext cx="292608" cy="292608"/>
          </a:xfrm>
          <a:prstGeom prst="ellipse">
            <a:avLst/>
          </a:prstGeom>
          <a:solidFill>
            <a:srgbClr val="B76E85"/>
          </a:solidFill>
          <a:ln w="25400">
            <a:solidFill>
              <a:srgbClr val="26211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288036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35302A"/>
          </a:solidFill>
          <a:ln w="19050">
            <a:solidFill>
              <a:srgbClr val="B76E8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6E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3429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顧客・販促の統合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42519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共通会員とクロスセル。来店単価と再来店を店横断で伸ばす。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317736" y="2322576"/>
            <a:ext cx="292608" cy="292608"/>
          </a:xfrm>
          <a:prstGeom prst="ellipse">
            <a:avLst/>
          </a:prstGeom>
          <a:solidFill>
            <a:srgbClr val="BC5A3C"/>
          </a:solidFill>
          <a:ln w="25400">
            <a:solidFill>
              <a:srgbClr val="26211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288036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35302A"/>
          </a:solidFill>
          <a:ln w="19050">
            <a:solidFill>
              <a:srgbClr val="BC5A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5548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C5A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555480" y="3429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自律エージェント化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555480" y="42519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需要予測・自動発注・シフト交渉まで、AIが先回りして提案・実行。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7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その先へ　</a:t>
            </a:r>
            <a:pPr algn="ctr" indent="0" marL="0">
              <a:buNone/>
            </a:pPr>
            <a:r>
              <a:rPr lang="en-US" sz="13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EC・オンライン通販 ／ ふるさと納税返礼品 ／ 多店舗・FC展開　── 同じ基盤に積み増すだけで広げられる。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3業態統合 経営AIエージェント構想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導入アプローチと、正直な前提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5DFD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8C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進め方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365760" cy="365760"/>
          </a:xfrm>
          <a:prstGeom prst="ellipse">
            <a:avLst/>
          </a:prstGeom>
          <a:solidFill>
            <a:srgbClr val="5E8C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0574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既製ツールを土台に
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Airレジ/メイト/シフト等の無料ツールで大部分を賄い、足りない所だけ自作する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081528"/>
            <a:ext cx="365760" cy="365760"/>
          </a:xfrm>
          <a:prstGeom prst="ellipse">
            <a:avLst/>
          </a:prstGeom>
          <a:solidFill>
            <a:srgbClr val="5E8C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99008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小さく始める
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1(数値の見える化)から。効果を見て次へ進む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4014216"/>
            <a:ext cx="365760" cy="365760"/>
          </a:xfrm>
          <a:prstGeom prst="ellipse">
            <a:avLst/>
          </a:prstGeom>
          <a:solidFill>
            <a:srgbClr val="5E8C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922776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人の承認を挟む
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発注・シフト確定はAIが提案し、最終判断はオーナー・店長が行う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4946904"/>
            <a:ext cx="365760" cy="365760"/>
          </a:xfrm>
          <a:prstGeom prst="ellipse">
            <a:avLst/>
          </a:prstGeom>
          <a:solidFill>
            <a:srgbClr val="5E8C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946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855464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1つの基盤に積む
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KofProを核に機能を追加。作り直さず育てる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3E7D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84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正直にお伝えする前提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37960" y="2148840"/>
            <a:ext cx="365760" cy="365760"/>
          </a:xfrm>
          <a:prstGeom prst="ellipse">
            <a:avLst/>
          </a:prstGeom>
          <a:solidFill>
            <a:srgbClr val="C1841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!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0574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完全な自動化ではない
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一部の既製ツールは外部連携の窓口が無く、データ受け渡しはCSV等の半自動になる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37960" y="3081528"/>
            <a:ext cx="365760" cy="365760"/>
          </a:xfrm>
          <a:prstGeom prst="ellipse">
            <a:avLst/>
          </a:prstGeom>
          <a:solidFill>
            <a:srgbClr val="C1841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3796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!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299008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事実の入力は人が行う
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つけ払い・訂正などの記録入力は人手。計算・集計・提案は自動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37960" y="4014216"/>
            <a:ext cx="365760" cy="365760"/>
          </a:xfrm>
          <a:prstGeom prst="ellipse">
            <a:avLst/>
          </a:prstGeom>
          <a:solidFill>
            <a:srgbClr val="C1841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3796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!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922776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初期の開発・設定工数
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自作部分の工数と、一部有料ツールの費用は別途見積りが必要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37960" y="4946904"/>
            <a:ext cx="365760" cy="365760"/>
          </a:xfrm>
          <a:prstGeom prst="ellipse">
            <a:avLst/>
          </a:prstGeom>
          <a:solidFill>
            <a:srgbClr val="C1841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37960" y="4946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!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4855464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A252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効果はデータが育ってから
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売上・在庫の実データが貯まるほど予測と提案の精度が上がる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3業態統合 経営AIエージェント構想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6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274320" cy="274320"/>
          </a:xfrm>
          <a:prstGeom prst="ellipse">
            <a:avLst/>
          </a:prstGeom>
          <a:solidFill>
            <a:srgbClr val="BC5A3C"/>
          </a:solidFill>
          <a:ln/>
        </p:spPr>
      </p:sp>
      <p:sp>
        <p:nvSpPr>
          <p:cNvPr id="3" name="Shape 1"/>
          <p:cNvSpPr/>
          <p:nvPr/>
        </p:nvSpPr>
        <p:spPr>
          <a:xfrm>
            <a:off x="1234440" y="777240"/>
            <a:ext cx="274320" cy="274320"/>
          </a:xfrm>
          <a:prstGeom prst="ellipse">
            <a:avLst/>
          </a:prstGeom>
          <a:solidFill>
            <a:srgbClr val="B76E85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0" y="777240"/>
            <a:ext cx="274320" cy="274320"/>
          </a:xfrm>
          <a:prstGeom prst="ellipse">
            <a:avLst/>
          </a:prstGeom>
          <a:solidFill>
            <a:srgbClr val="7C9A5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34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EFE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本日ご判断いただきたいこと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35302A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532888"/>
            <a:ext cx="457200" cy="457200"/>
          </a:xfrm>
          <a:prstGeom prst="ellipse">
            <a:avLst/>
          </a:prstGeom>
          <a:solidFill>
            <a:srgbClr val="C184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1A0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286000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方向性の承認　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「3店を1つの頭脳で統合管理する」という構想の方向性にGoを出すか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35302A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3675888"/>
            <a:ext cx="457200" cy="457200"/>
          </a:xfrm>
          <a:prstGeom prst="ellipse">
            <a:avLst/>
          </a:prstGeom>
          <a:solidFill>
            <a:srgbClr val="C184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1A0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429000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 の着手　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まずは数値の見える化(投資小・リスク小)から始めることの承認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457200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35302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0" y="4818888"/>
            <a:ext cx="457200" cy="457200"/>
          </a:xfrm>
          <a:prstGeom prst="ellipse">
            <a:avLst/>
          </a:prstGeom>
          <a:solidFill>
            <a:srgbClr val="C184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1A0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572000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5EF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体制と予算の検討　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9A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自作部分の工数・費用の見積りを次回までに用意することの承認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0A73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小さく始めて、確かめながら、賢く育てる。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3業態統合 経営AIエージェント構想</dc:title>
  <dc:subject>PptxGenJS Presentation</dc:subject>
  <dc:creator>KofPro</dc:creator>
  <cp:lastModifiedBy>KofPro</cp:lastModifiedBy>
  <cp:revision>1</cp:revision>
  <dcterms:created xsi:type="dcterms:W3CDTF">2026-09-14T05:16:57Z</dcterms:created>
  <dcterms:modified xsi:type="dcterms:W3CDTF">2026-09-14T05:16:57Z</dcterms:modified>
</cp:coreProperties>
</file>